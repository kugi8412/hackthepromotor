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embeddedFontLst>
    <p:embeddedFont>
      <p:font typeface="Playfair Display"/>
      <p:regular r:id="rId13"/>
      <p:bold r:id="rId14"/>
      <p:italic r:id="rId15"/>
      <p:boldItalic r:id="rId16"/>
    </p:embeddedFont>
    <p:embeddedFont>
      <p:font typeface="Lato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Lato-bold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PlayfairDisplay-regular.fntdata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PlayfairDisplay-italic.fntdata"/><Relationship Id="rId14" Type="http://schemas.openxmlformats.org/officeDocument/2006/relationships/font" Target="fonts/PlayfairDisplay-bold.fntdata"/><Relationship Id="rId17" Type="http://schemas.openxmlformats.org/officeDocument/2006/relationships/font" Target="fonts/Lato-regular.fntdata"/><Relationship Id="rId16" Type="http://schemas.openxmlformats.org/officeDocument/2006/relationships/font" Target="fonts/PlayfairDisplay-boldItalic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Lato-italic.fntdata"/><Relationship Id="rId6" Type="http://schemas.openxmlformats.org/officeDocument/2006/relationships/slide" Target="slides/slide1.xml"/><Relationship Id="rId18" Type="http://schemas.openxmlformats.org/officeDocument/2006/relationships/font" Target="fonts/Lato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f8a6cc94e3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f8a6cc94e3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f8a6cc94e3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f8a6cc94e3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f8a6cc94e3_1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f8a6cc94e3_1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f8a6cc92ca_0_3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f8a6cc92ca_0_3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8a6cc94e3_1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8a6cc94e3_1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f8a6cc94e3_1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f8a6cc94e3_1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9050" y="748800"/>
            <a:ext cx="3645900" cy="36459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2992950" y="992700"/>
            <a:ext cx="3158100" cy="31581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 txBox="1"/>
          <p:nvPr>
            <p:ph type="ctrTitle"/>
          </p:nvPr>
        </p:nvSpPr>
        <p:spPr>
          <a:xfrm>
            <a:off x="3096250" y="1627200"/>
            <a:ext cx="2951400" cy="158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096363" y="3266930"/>
            <a:ext cx="2951400" cy="70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title"/>
          </p:nvPr>
        </p:nvSpPr>
        <p:spPr>
          <a:xfrm>
            <a:off x="509550" y="1423875"/>
            <a:ext cx="8124900" cy="179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4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3" name="Google Shape;33;p7"/>
          <p:cNvSpPr txBox="1"/>
          <p:nvPr>
            <p:ph idx="1" type="body"/>
          </p:nvPr>
        </p:nvSpPr>
        <p:spPr>
          <a:xfrm>
            <a:off x="311700" y="1391378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4" name="Google Shape;34;p7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dk2"/>
        </a:solid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37" name="Google Shape;37;p8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0" name="Google Shape;40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9"/>
          <p:cNvSpPr txBox="1"/>
          <p:nvPr>
            <p:ph type="title"/>
          </p:nvPr>
        </p:nvSpPr>
        <p:spPr>
          <a:xfrm>
            <a:off x="265500" y="1107950"/>
            <a:ext cx="4045200" cy="1683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p9"/>
          <p:cNvSpPr txBox="1"/>
          <p:nvPr>
            <p:ph idx="1" type="subTitle"/>
          </p:nvPr>
        </p:nvSpPr>
        <p:spPr>
          <a:xfrm>
            <a:off x="265500" y="28452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7" name="Google Shape;47;p10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11"/>
          <p:cNvSpPr txBox="1"/>
          <p:nvPr>
            <p:ph hasCustomPrompt="1" type="title"/>
          </p:nvPr>
        </p:nvSpPr>
        <p:spPr>
          <a:xfrm>
            <a:off x="311700" y="1233100"/>
            <a:ext cx="8520600" cy="1610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/>
          <p:nvPr>
            <p:ph idx="1" type="body"/>
          </p:nvPr>
        </p:nvSpPr>
        <p:spPr>
          <a:xfrm>
            <a:off x="311700" y="2919450"/>
            <a:ext cx="85206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coral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Lato"/>
              <a:buChar char="●"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4.png"/><Relationship Id="rId6" Type="http://schemas.openxmlformats.org/officeDocument/2006/relationships/image" Target="../media/image6.png"/><Relationship Id="rId7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/>
          <p:nvPr>
            <p:ph type="ctrTitle"/>
          </p:nvPr>
        </p:nvSpPr>
        <p:spPr>
          <a:xfrm>
            <a:off x="3096250" y="1627200"/>
            <a:ext cx="2951400" cy="158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PROmocja PRO Promotorów</a:t>
            </a:r>
            <a:endParaRPr/>
          </a:p>
        </p:txBody>
      </p:sp>
      <p:sp>
        <p:nvSpPr>
          <p:cNvPr id="60" name="Google Shape;60;p13"/>
          <p:cNvSpPr txBox="1"/>
          <p:nvPr>
            <p:ph idx="1" type="subTitle"/>
          </p:nvPr>
        </p:nvSpPr>
        <p:spPr>
          <a:xfrm>
            <a:off x="3096363" y="3266930"/>
            <a:ext cx="2951400" cy="70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BROmoters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Badania wstępne - judge</a:t>
            </a:r>
            <a:endParaRPr/>
          </a:p>
        </p:txBody>
      </p:sp>
      <p:sp>
        <p:nvSpPr>
          <p:cNvPr id="66" name="Google Shape;66;p14"/>
          <p:cNvSpPr txBox="1"/>
          <p:nvPr>
            <p:ph idx="1" type="body"/>
          </p:nvPr>
        </p:nvSpPr>
        <p:spPr>
          <a:xfrm>
            <a:off x="311700" y="1152475"/>
            <a:ext cx="8520600" cy="70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l"/>
              <a:t>w pierwszym bloku sprawdziliśmy jak działa judge</a:t>
            </a:r>
            <a:endParaRPr/>
          </a:p>
        </p:txBody>
      </p:sp>
      <p:pic>
        <p:nvPicPr>
          <p:cNvPr id="67" name="Google Shape;67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8775" y="1721200"/>
            <a:ext cx="7312676" cy="31500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Nasza Pętla - algorytm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ewolucyjny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73" name="Google Shape;73;p15" title="schemat_pipeline(1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08150" y="142687"/>
            <a:ext cx="4854202" cy="4692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1176" y="2189250"/>
            <a:ext cx="3932400" cy="1665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6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Pomysły które nie pomogły</a:t>
            </a:r>
            <a:endParaRPr/>
          </a:p>
        </p:txBody>
      </p:sp>
      <p:sp>
        <p:nvSpPr>
          <p:cNvPr id="80" name="Google Shape;80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l"/>
              <a:t>Wild type ingestion</a:t>
            </a:r>
            <a:r>
              <a:rPr b="1" lang="pl"/>
              <a:t> </a:t>
            </a:r>
            <a:r>
              <a:rPr lang="pl"/>
              <a:t>- co </a:t>
            </a:r>
            <a:r>
              <a:rPr lang="pl"/>
              <a:t>parę</a:t>
            </a:r>
            <a:r>
              <a:rPr lang="pl"/>
              <a:t> pokoleń wprowadzać z powrotem typ dziki do populacji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l"/>
              <a:t>Agregacja</a:t>
            </a:r>
            <a:r>
              <a:rPr lang="pl"/>
              <a:t> podobnych wyników - zwiększenie różnorodności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l"/>
              <a:t>Włączenie outputu z submisji do pętly optymalizacyjnej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7"/>
          <p:cNvSpPr txBox="1"/>
          <p:nvPr>
            <p:ph type="title"/>
          </p:nvPr>
        </p:nvSpPr>
        <p:spPr>
          <a:xfrm>
            <a:off x="139325" y="248375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Rotacja kluczy</a:t>
            </a:r>
            <a:endParaRPr/>
          </a:p>
        </p:txBody>
      </p:sp>
      <p:pic>
        <p:nvPicPr>
          <p:cNvPr id="86" name="Google Shape;86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6857" y="874475"/>
            <a:ext cx="6494342" cy="948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7" name="Google Shape;87;p17"/>
          <p:cNvGrpSpPr/>
          <p:nvPr/>
        </p:nvGrpSpPr>
        <p:grpSpPr>
          <a:xfrm>
            <a:off x="-496350" y="711400"/>
            <a:ext cx="4949301" cy="4238100"/>
            <a:chOff x="2396425" y="452700"/>
            <a:chExt cx="4949301" cy="4238100"/>
          </a:xfrm>
        </p:grpSpPr>
        <p:pic>
          <p:nvPicPr>
            <p:cNvPr id="88" name="Google Shape;88;p17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396425" y="452700"/>
              <a:ext cx="4949301" cy="423810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89" name="Google Shape;89;p17"/>
            <p:cNvCxnSpPr/>
            <p:nvPr/>
          </p:nvCxnSpPr>
          <p:spPr>
            <a:xfrm>
              <a:off x="5285300" y="1291700"/>
              <a:ext cx="942600" cy="11448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cxnSp>
          <p:nvCxnSpPr>
            <p:cNvPr id="90" name="Google Shape;90;p17"/>
            <p:cNvCxnSpPr/>
            <p:nvPr/>
          </p:nvCxnSpPr>
          <p:spPr>
            <a:xfrm flipH="1">
              <a:off x="5339150" y="2961600"/>
              <a:ext cx="983100" cy="1198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cxnSp>
          <p:nvCxnSpPr>
            <p:cNvPr id="91" name="Google Shape;91;p17"/>
            <p:cNvCxnSpPr/>
            <p:nvPr/>
          </p:nvCxnSpPr>
          <p:spPr>
            <a:xfrm rot="10800000">
              <a:off x="3144025" y="3055800"/>
              <a:ext cx="906600" cy="1104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cxnSp>
          <p:nvCxnSpPr>
            <p:cNvPr id="92" name="Google Shape;92;p17"/>
            <p:cNvCxnSpPr/>
            <p:nvPr/>
          </p:nvCxnSpPr>
          <p:spPr>
            <a:xfrm flipH="1" rot="10800000">
              <a:off x="3144025" y="1278100"/>
              <a:ext cx="875400" cy="12189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pic>
          <p:nvPicPr>
            <p:cNvPr id="93" name="Google Shape;93;p17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3943125" y="2004550"/>
              <a:ext cx="1476850" cy="147685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94" name="Google Shape;94;p1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644900" y="3055225"/>
            <a:ext cx="3872799" cy="892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057323" y="2806650"/>
            <a:ext cx="2202671" cy="16524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8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Wnioski</a:t>
            </a:r>
            <a:endParaRPr/>
          </a:p>
        </p:txBody>
      </p:sp>
      <p:sp>
        <p:nvSpPr>
          <p:cNvPr id="101" name="Google Shape;101;p18"/>
          <p:cNvSpPr txBox="1"/>
          <p:nvPr>
            <p:ph idx="1" type="body"/>
          </p:nvPr>
        </p:nvSpPr>
        <p:spPr>
          <a:xfrm>
            <a:off x="311700" y="1152475"/>
            <a:ext cx="8601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Char char="●"/>
            </a:pPr>
            <a:r>
              <a:rPr lang="pl" sz="2100"/>
              <a:t>Powinniśmy byli bardziej </a:t>
            </a:r>
            <a:r>
              <a:rPr lang="pl" sz="2100"/>
              <a:t>zoptymalizować</a:t>
            </a:r>
            <a:r>
              <a:rPr lang="pl" sz="2100"/>
              <a:t> parametry zanim myśleć o dodatkach</a:t>
            </a:r>
            <a:endParaRPr sz="21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Char char="●"/>
            </a:pPr>
            <a:r>
              <a:rPr lang="pl" sz="2100"/>
              <a:t>Więcej iteracji - lepsza inferencja na zbiorze top 100</a:t>
            </a:r>
            <a:endParaRPr sz="21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Char char="●"/>
            </a:pPr>
            <a:r>
              <a:rPr lang="pl" sz="2100"/>
              <a:t>Uwzględnienie biologicznych filtrów/próbowanie wtasowywania znanych motywów (np. TATA box)</a:t>
            </a:r>
            <a:endParaRPr sz="21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Char char="●"/>
            </a:pPr>
            <a:r>
              <a:rPr lang="pl" sz="2100"/>
              <a:t>Zastosowanie modeli do rozpoznawania sekwencji obecnych w najlepszych promotorach</a:t>
            </a:r>
            <a:endParaRPr sz="21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Char char="●"/>
            </a:pPr>
            <a:r>
              <a:rPr lang="pl" sz="2100"/>
              <a:t>Więcej spania i spacer po obiedzie 🥀🥀🥀🥀</a:t>
            </a:r>
            <a:endParaRPr sz="2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9"/>
          <p:cNvSpPr/>
          <p:nvPr/>
        </p:nvSpPr>
        <p:spPr>
          <a:xfrm>
            <a:off x="5338700" y="2869275"/>
            <a:ext cx="2375400" cy="2022600"/>
          </a:xfrm>
          <a:prstGeom prst="heart">
            <a:avLst/>
          </a:prstGeom>
          <a:solidFill>
            <a:schemeClr val="accent6"/>
          </a:solidFill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07" name="Google Shape;107;p19"/>
          <p:cNvSpPr txBox="1"/>
          <p:nvPr>
            <p:ph type="title"/>
          </p:nvPr>
        </p:nvSpPr>
        <p:spPr>
          <a:xfrm>
            <a:off x="311700" y="1233100"/>
            <a:ext cx="8520600" cy="1610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8000"/>
              <a:t>Dziękujemy za uwage</a:t>
            </a:r>
            <a:endParaRPr sz="8000"/>
          </a:p>
        </p:txBody>
      </p:sp>
      <p:sp>
        <p:nvSpPr>
          <p:cNvPr id="108" name="Google Shape;108;p19"/>
          <p:cNvSpPr txBox="1"/>
          <p:nvPr>
            <p:ph idx="1" type="body"/>
          </p:nvPr>
        </p:nvSpPr>
        <p:spPr>
          <a:xfrm>
            <a:off x="-217475" y="3001775"/>
            <a:ext cx="85206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pl" sz="3100"/>
              <a:t>OUR GOAT:</a:t>
            </a:r>
            <a:endParaRPr sz="3100"/>
          </a:p>
        </p:txBody>
      </p:sp>
      <p:pic>
        <p:nvPicPr>
          <p:cNvPr id="109" name="Google Shape;109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14237" y="3280937"/>
            <a:ext cx="1224325" cy="1224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oral">
  <a:themeElements>
    <a:clrScheme name="Coral">
      <a:dk1>
        <a:srgbClr val="F55E61"/>
      </a:dk1>
      <a:lt1>
        <a:srgbClr val="FFFFFF"/>
      </a:lt1>
      <a:dk2>
        <a:srgbClr val="5E696C"/>
      </a:dk2>
      <a:lt2>
        <a:srgbClr val="BFC7CA"/>
      </a:lt2>
      <a:accent1>
        <a:srgbClr val="1E2D31"/>
      </a:accent1>
      <a:accent2>
        <a:srgbClr val="273C42"/>
      </a:accent2>
      <a:accent3>
        <a:srgbClr val="83D061"/>
      </a:accent3>
      <a:accent4>
        <a:srgbClr val="F6CD4C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