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8a5e3f01b_1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8a5e3f01b_1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8a5e3f01b_1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8a5e3f01b_1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8a5e3f01b_1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8a5e3f01b_1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8a5e3f01b_1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8a5e3f01b_1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8a4cd37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8a4cd37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8a5e3f01b_1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8a5e3f01b_1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8a4cd37f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8a4cd37f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gif"/><Relationship Id="rId4" Type="http://schemas.openxmlformats.org/officeDocument/2006/relationships/hyperlink" Target="https://pmc.ncbi.nlm.nih.gov/articles/PMC3675475/" TargetMode="External"/><Relationship Id="rId9" Type="http://schemas.openxmlformats.org/officeDocument/2006/relationships/hyperlink" Target="https://pmc.ncbi.nlm.nih.gov/articles/PMC152388/" TargetMode="External"/><Relationship Id="rId5" Type="http://schemas.openxmlformats.org/officeDocument/2006/relationships/hyperlink" Target="https://doi.org/10.1002/biot.70075/" TargetMode="External"/><Relationship Id="rId6" Type="http://schemas.openxmlformats.org/officeDocument/2006/relationships/hyperlink" Target="https://doi.org/10.1146/annurev.biochem.72.121801.161520" TargetMode="External"/><Relationship Id="rId7" Type="http://schemas.openxmlformats.org/officeDocument/2006/relationships/hyperlink" Target="https://doi.org/10.1016/s0092-8674(04)00205-3" TargetMode="External"/><Relationship Id="rId8" Type="http://schemas.openxmlformats.org/officeDocument/2006/relationships/hyperlink" Target="https://pmc.ncbi.nlm.nih.gov/articles/PMC358618/pdf/molcellb00004-0291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Team </a:t>
            </a:r>
            <a:r>
              <a:rPr b="1" lang="en-GB"/>
              <a:t>Combat Hamsters</a:t>
            </a:r>
            <a:endParaRPr b="1"/>
          </a:p>
        </p:txBody>
      </p:sp>
      <p:pic>
        <p:nvPicPr>
          <p:cNvPr id="55" name="Google Shape;55;p13" title="giphy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1825" y="3202113"/>
            <a:ext cx="1536925" cy="15369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042525"/>
            <a:ext cx="5563200" cy="16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EFEFEF"/>
                </a:solidFill>
              </a:rPr>
              <a:t>Igor Ziółkowski</a:t>
            </a:r>
            <a:r>
              <a:rPr baseline="30000" lang="en-GB" sz="2500">
                <a:solidFill>
                  <a:srgbClr val="EFEFEF"/>
                </a:solidFill>
              </a:rPr>
              <a:t>[1]</a:t>
            </a:r>
            <a:r>
              <a:rPr lang="en-GB" sz="2500">
                <a:solidFill>
                  <a:srgbClr val="EFEFEF"/>
                </a:solidFill>
              </a:rPr>
              <a:t>, Jan Sikora</a:t>
            </a:r>
            <a:r>
              <a:rPr baseline="30000" lang="en-GB" sz="2500">
                <a:solidFill>
                  <a:srgbClr val="EFEFEF"/>
                </a:solidFill>
              </a:rPr>
              <a:t>[2]</a:t>
            </a:r>
            <a:endParaRPr sz="16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EFEFEF"/>
                </a:solidFill>
              </a:rPr>
              <a:t>[1] Wydział Biologii i Nauk o Środowisku, UKSW</a:t>
            </a:r>
            <a:endParaRPr sz="13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EFEFEF"/>
                </a:solidFill>
              </a:rPr>
              <a:t>[2] Kolegium MISMaP, UW</a:t>
            </a:r>
            <a:br>
              <a:rPr baseline="30000" lang="en-GB" sz="2500">
                <a:solidFill>
                  <a:srgbClr val="EFEFEF"/>
                </a:solidFill>
              </a:rPr>
            </a:br>
            <a:endParaRPr sz="2500"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Algorytm optymalizacyjny </a:t>
            </a:r>
            <a:r>
              <a:rPr b="1" lang="en-GB" sz="1022"/>
              <a:t>(chomik w kołowrotku)</a:t>
            </a:r>
            <a:endParaRPr b="1" sz="1022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6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FEFEF"/>
                </a:solidFill>
              </a:rPr>
              <a:t>Zastosowaliśmy algorytm a-la ewolucyjny:</a:t>
            </a:r>
            <a:endParaRPr>
              <a:solidFill>
                <a:srgbClr val="EFEFE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EFEFEF"/>
              </a:buClr>
              <a:buSzPts val="1800"/>
              <a:buAutoNum type="arabicPeriod"/>
            </a:pPr>
            <a:r>
              <a:rPr lang="en-GB">
                <a:solidFill>
                  <a:srgbClr val="EFEFEF"/>
                </a:solidFill>
              </a:rPr>
              <a:t>Do każdej rundy trafia N(</a:t>
            </a:r>
            <a:r>
              <a:rPr lang="en-GB" sz="1400">
                <a:solidFill>
                  <a:srgbClr val="EFEFEF"/>
                </a:solidFill>
              </a:rPr>
              <a:t>=100</a:t>
            </a:r>
            <a:r>
              <a:rPr lang="en-GB">
                <a:solidFill>
                  <a:srgbClr val="EFEFEF"/>
                </a:solidFill>
              </a:rPr>
              <a:t>) sekwencji.</a:t>
            </a:r>
            <a:endParaRPr>
              <a:solidFill>
                <a:srgbClr val="EFEFE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AutoNum type="arabicPeriod"/>
            </a:pPr>
            <a:r>
              <a:rPr lang="en-GB">
                <a:solidFill>
                  <a:srgbClr val="EFEFEF"/>
                </a:solidFill>
              </a:rPr>
              <a:t>Są one sortowane merge-sortem (możliwe, gdyż Sędzia zachowuje przechodniość), dzięki czemu mamy jedynie NlogN porównań.</a:t>
            </a:r>
            <a:endParaRPr>
              <a:solidFill>
                <a:srgbClr val="EFEFE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AutoNum type="arabicPeriod"/>
            </a:pPr>
            <a:r>
              <a:rPr lang="en-GB">
                <a:solidFill>
                  <a:srgbClr val="EFEFEF"/>
                </a:solidFill>
              </a:rPr>
              <a:t>Wybierane jest najlepsze X(</a:t>
            </a:r>
            <a:r>
              <a:rPr lang="en-GB" sz="1400">
                <a:solidFill>
                  <a:srgbClr val="EFEFEF"/>
                </a:solidFill>
              </a:rPr>
              <a:t>=33</a:t>
            </a:r>
            <a:r>
              <a:rPr lang="en-GB">
                <a:solidFill>
                  <a:srgbClr val="EFEFEF"/>
                </a:solidFill>
              </a:rPr>
              <a:t>) sekwencji.</a:t>
            </a:r>
            <a:endParaRPr>
              <a:solidFill>
                <a:srgbClr val="EFEFE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AutoNum type="arabicPeriod"/>
            </a:pPr>
            <a:r>
              <a:rPr lang="en-GB">
                <a:solidFill>
                  <a:srgbClr val="EFEFEF"/>
                </a:solidFill>
              </a:rPr>
              <a:t>Następnie, powstają nowe sekwencje za pomocą Nawigatora.</a:t>
            </a:r>
            <a:endParaRPr>
              <a:solidFill>
                <a:srgbClr val="EFEFE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AutoNum type="arabicPeriod"/>
            </a:pPr>
            <a:r>
              <a:rPr lang="en-GB">
                <a:solidFill>
                  <a:srgbClr val="EFEFEF"/>
                </a:solidFill>
              </a:rPr>
              <a:t>Każda z nich przechodzi następnie przez </a:t>
            </a:r>
            <a:r>
              <a:rPr b="1" lang="en-GB">
                <a:solidFill>
                  <a:srgbClr val="EFEFEF"/>
                </a:solidFill>
              </a:rPr>
              <a:t>heurystyki biologiczne</a:t>
            </a:r>
            <a:r>
              <a:rPr lang="en-GB">
                <a:solidFill>
                  <a:srgbClr val="EFEFEF"/>
                </a:solidFill>
              </a:rPr>
              <a:t>.</a:t>
            </a:r>
            <a:endParaRPr>
              <a:solidFill>
                <a:srgbClr val="EFEFE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AutoNum type="arabicPeriod"/>
            </a:pPr>
            <a:r>
              <a:rPr lang="en-GB">
                <a:solidFill>
                  <a:srgbClr val="EFEFEF"/>
                </a:solidFill>
              </a:rPr>
              <a:t>A na koniec aplikowane są wszelkie zmiany sugerowane przez nawigatora pod kątem genomu P1.</a:t>
            </a:r>
            <a:endParaRPr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Motywy w promotorze</a:t>
            </a:r>
            <a:endParaRPr b="1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FEFEF"/>
                </a:solidFill>
              </a:rPr>
              <a:t>W ogólności, wygląda na to, że ekspresja genu może zależeć od konkretnych motywów obecnych w promotorze (mogą one aktywować lub wygaszać ekspresję).</a:t>
            </a:r>
            <a:endParaRPr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FEFEF"/>
                </a:solidFill>
              </a:rPr>
              <a:t>Takim zidentyfikowanymi motywami dla </a:t>
            </a:r>
            <a:r>
              <a:rPr i="1" lang="en-GB">
                <a:solidFill>
                  <a:srgbClr val="EFEFEF"/>
                </a:solidFill>
              </a:rPr>
              <a:t>trichodermy</a:t>
            </a:r>
            <a:r>
              <a:rPr lang="en-GB">
                <a:solidFill>
                  <a:srgbClr val="EFEFEF"/>
                </a:solidFill>
              </a:rPr>
              <a:t>, używanymi przez nas są:</a:t>
            </a:r>
            <a:endParaRPr>
              <a:solidFill>
                <a:srgbClr val="EFEFEF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EFEFEF"/>
              </a:buClr>
              <a:buSzPts val="1800"/>
              <a:buAutoNum type="arabicPeriod"/>
            </a:pPr>
            <a:r>
              <a:rPr lang="en-GB">
                <a:solidFill>
                  <a:srgbClr val="EA9999"/>
                </a:solidFill>
              </a:rPr>
              <a:t>ACE1</a:t>
            </a:r>
            <a:r>
              <a:rPr lang="en-GB">
                <a:solidFill>
                  <a:srgbClr val="EFEFEF"/>
                </a:solidFill>
              </a:rPr>
              <a:t> (ogólny repressor) - AGGCA</a:t>
            </a:r>
            <a:endParaRPr>
              <a:solidFill>
                <a:srgbClr val="EFEFE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AutoNum type="arabicPeriod"/>
            </a:pPr>
            <a:r>
              <a:rPr lang="en-GB">
                <a:solidFill>
                  <a:srgbClr val="B6D7A8"/>
                </a:solidFill>
              </a:rPr>
              <a:t>ACE2/Xyr1</a:t>
            </a:r>
            <a:r>
              <a:rPr lang="en-GB">
                <a:solidFill>
                  <a:srgbClr val="EFEFEF"/>
                </a:solidFill>
              </a:rPr>
              <a:t> (ogólny aktywator lub zależny od enzymu) - GGCTAA</a:t>
            </a:r>
            <a:endParaRPr>
              <a:solidFill>
                <a:srgbClr val="EFEFE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AutoNum type="arabicPeriod"/>
            </a:pPr>
            <a:r>
              <a:rPr lang="en-GB">
                <a:solidFill>
                  <a:srgbClr val="EA9999"/>
                </a:solidFill>
              </a:rPr>
              <a:t>CRE1</a:t>
            </a:r>
            <a:r>
              <a:rPr lang="en-GB">
                <a:solidFill>
                  <a:srgbClr val="EFEFEF"/>
                </a:solidFill>
              </a:rPr>
              <a:t> (repressor zależny od glukozy) - </a:t>
            </a:r>
            <a:r>
              <a:rPr lang="en-GB" sz="1700">
                <a:solidFill>
                  <a:srgbClr val="EFEFEF"/>
                </a:solidFill>
              </a:rPr>
              <a:t>[CG][CT]GG[AG]G / C[TC]CC[GA][GC]</a:t>
            </a:r>
            <a:endParaRPr sz="1700">
              <a:solidFill>
                <a:srgbClr val="EFEFE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AutoNum type="arabicPeriod"/>
            </a:pPr>
            <a:r>
              <a:rPr lang="en-GB">
                <a:solidFill>
                  <a:srgbClr val="EFEFEF"/>
                </a:solidFill>
              </a:rPr>
              <a:t>TATA box - TATAAA</a:t>
            </a:r>
            <a:endParaRPr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Heurystyki biologiczne</a:t>
            </a:r>
            <a:endParaRPr b="1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AutoNum type="arabicPeriod"/>
            </a:pPr>
            <a:r>
              <a:rPr lang="en-GB">
                <a:solidFill>
                  <a:srgbClr val="EFEFEF"/>
                </a:solidFill>
              </a:rPr>
              <a:t>Zamiana repressorów </a:t>
            </a:r>
            <a:r>
              <a:rPr lang="en-GB">
                <a:solidFill>
                  <a:srgbClr val="EA9999"/>
                </a:solidFill>
              </a:rPr>
              <a:t>ACE1</a:t>
            </a:r>
            <a:r>
              <a:rPr lang="en-GB">
                <a:solidFill>
                  <a:srgbClr val="EFEFEF"/>
                </a:solidFill>
              </a:rPr>
              <a:t> na </a:t>
            </a:r>
            <a:r>
              <a:rPr lang="en-GB">
                <a:solidFill>
                  <a:srgbClr val="B6D7A8"/>
                </a:solidFill>
              </a:rPr>
              <a:t>ACE2/Xyr1</a:t>
            </a:r>
            <a:r>
              <a:rPr lang="en-GB">
                <a:solidFill>
                  <a:srgbClr val="EFEFEF"/>
                </a:solidFill>
              </a:rPr>
              <a:t>.</a:t>
            </a:r>
            <a:endParaRPr>
              <a:solidFill>
                <a:srgbClr val="EFEFE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AutoNum type="arabicPeriod"/>
            </a:pPr>
            <a:r>
              <a:rPr lang="en-GB">
                <a:solidFill>
                  <a:srgbClr val="EFEFEF"/>
                </a:solidFill>
              </a:rPr>
              <a:t>Zamiana repressorów </a:t>
            </a:r>
            <a:r>
              <a:rPr lang="en-GB">
                <a:solidFill>
                  <a:srgbClr val="EA9999"/>
                </a:solidFill>
              </a:rPr>
              <a:t>CRE1</a:t>
            </a:r>
            <a:r>
              <a:rPr lang="en-GB">
                <a:solidFill>
                  <a:srgbClr val="EFEFEF"/>
                </a:solidFill>
              </a:rPr>
              <a:t> na </a:t>
            </a:r>
            <a:r>
              <a:rPr lang="en-GB">
                <a:solidFill>
                  <a:srgbClr val="B6D7A8"/>
                </a:solidFill>
              </a:rPr>
              <a:t>ACE2/Xyr1</a:t>
            </a:r>
            <a:r>
              <a:rPr lang="en-GB">
                <a:solidFill>
                  <a:srgbClr val="EFEFEF"/>
                </a:solidFill>
              </a:rPr>
              <a:t>.</a:t>
            </a:r>
            <a:endParaRPr>
              <a:solidFill>
                <a:srgbClr val="EFEFE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AutoNum type="arabicPeriod"/>
            </a:pPr>
            <a:r>
              <a:rPr lang="en-GB">
                <a:solidFill>
                  <a:srgbClr val="EFEFEF"/>
                </a:solidFill>
              </a:rPr>
              <a:t>Wstawianie TATA boxa w miejscu w którym występuje w “dzikim” promotorze.</a:t>
            </a:r>
            <a:endParaRPr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FEFEF"/>
                </a:solidFill>
              </a:rPr>
              <a:t>Wszystkie zmiany są aplikowane wyłącznie jeśli Sędzia wskaże, że czynią one promotor lepszym.</a:t>
            </a:r>
            <a:endParaRPr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EFEFEF"/>
                </a:solidFill>
              </a:rPr>
              <a:t>Czasami zdarza się że Sędzia, mimo obecności repressorów, orzeknie o większej mocy takiego promotora.</a:t>
            </a:r>
            <a:endParaRPr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-GB"/>
              <a:t>Inne, testowane podejścia</a:t>
            </a:r>
            <a:endParaRPr b="1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R</a:t>
            </a:r>
            <a:r>
              <a:rPr lang="en-GB">
                <a:solidFill>
                  <a:schemeClr val="dk1"/>
                </a:solidFill>
              </a:rPr>
              <a:t>ozważaliśmy implementację aktywatorów zależnych od innych czynników (środowiskowych) takich jak LRE, STRE, AbaA i PacC, jednak nie zdecydowaliśmy się na to, gdyż i tak rozważamy grzyba w warunkach laboratoryjnych, a nie realnych.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Sekwencje STRE i AbaA występują naturalnie w dzikich promotorach.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Nasz promotor nie uwzględnia dużo aktywatorów ponieważ aktywatory do specyficznych warunków środowiskowych nie są potrzebne jak nasz grzyb jest hodowany na szalkach w laboratorium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-GB"/>
              <a:t>Na przyszłość</a:t>
            </a:r>
            <a:endParaRPr b="1"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Myśleliśmy też żeby jakoś uwzględnić fakt zwijania się helisy DNA co 10.5 </a:t>
            </a:r>
            <a:r>
              <a:rPr lang="en-GB">
                <a:solidFill>
                  <a:schemeClr val="dk1"/>
                </a:solidFill>
              </a:rPr>
              <a:t>nukleotydów</a:t>
            </a:r>
            <a:r>
              <a:rPr lang="en-GB">
                <a:solidFill>
                  <a:schemeClr val="dk1"/>
                </a:solidFill>
              </a:rPr>
              <a:t> (podobno to zmienia trochę ekspresję?)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W jednym z badań opisana była zwiększona ekspresja gdy w promotorze po TATA boxie występowało 60-70% par A-T.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Źrodła </a:t>
            </a:r>
            <a:r>
              <a:rPr b="1" lang="en-GB" sz="800"/>
              <a:t>(przepraszamy za chaos)</a:t>
            </a:r>
            <a:endParaRPr b="1" sz="800"/>
          </a:p>
        </p:txBody>
      </p:sp>
      <p:pic>
        <p:nvPicPr>
          <p:cNvPr id="92" name="Google Shape;92;p19" title="giphy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1825" y="3202113"/>
            <a:ext cx="1536925" cy="15369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35623" y="1176398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u="sng">
                <a:solidFill>
                  <a:srgbClr val="32A9E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https://pmc.ncbi.nlm.nih.gov/articles/PMC3675475/</a:t>
            </a:r>
            <a:r>
              <a:rPr lang="en-GB" sz="1100">
                <a:solidFill>
                  <a:schemeClr val="dk1"/>
                </a:solidFill>
              </a:rPr>
              <a:t> (Dlaczego tss powinno miec 60-70% A-T)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u="sng">
                <a:solidFill>
                  <a:schemeClr val="hlink"/>
                </a:solidFill>
                <a:hlinkClick r:id="rId5"/>
              </a:rPr>
              <a:t>https://doi.org/10.1002/biot.70075/</a:t>
            </a:r>
            <a:r>
              <a:rPr lang="en-GB" sz="1100">
                <a:solidFill>
                  <a:schemeClr val="dk1"/>
                </a:solidFill>
              </a:rPr>
              <a:t> (ACE1, ACE2/Xyr1)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>
                <a:solidFill>
                  <a:schemeClr val="hlink"/>
                </a:solidFill>
                <a:hlinkClick r:id="rId6"/>
              </a:rPr>
              <a:t>https://doi.org/10.1146/annurev.biochem.72.121801.161520</a:t>
            </a:r>
            <a:r>
              <a:rPr lang="en-GB" sz="1100">
                <a:solidFill>
                  <a:schemeClr val="dk1"/>
                </a:solidFill>
              </a:rPr>
              <a:t> (TSS)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>
                <a:solidFill>
                  <a:schemeClr val="hlink"/>
                </a:solidFill>
                <a:hlinkClick r:id="rId7"/>
              </a:rPr>
              <a:t>https://doi.org/10.1016/s0092-8674(04)00205-3</a:t>
            </a:r>
            <a:r>
              <a:rPr lang="en-GB" sz="1100">
                <a:solidFill>
                  <a:schemeClr val="dk1"/>
                </a:solidFill>
              </a:rPr>
              <a:t> (TATA box)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u="sng">
                <a:solidFill>
                  <a:schemeClr val="hlink"/>
                </a:solidFill>
                <a:hlinkClick r:id="rId8"/>
              </a:rPr>
              <a:t>https://pmc.ncbi.nlm.nih.gov/articles/PMC358618/</a:t>
            </a:r>
            <a:r>
              <a:rPr lang="en-GB" sz="1100">
                <a:solidFill>
                  <a:schemeClr val="dk1"/>
                </a:solidFill>
              </a:rPr>
              <a:t> (abaA)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u="sng">
                <a:solidFill>
                  <a:schemeClr val="hlink"/>
                </a:solidFill>
                <a:hlinkClick r:id="rId9"/>
              </a:rPr>
              <a:t>https://pmc.ncbi.nlm.nih.gov/articles/PMC152388/</a:t>
            </a:r>
            <a:r>
              <a:rPr lang="en-GB" sz="1100">
                <a:solidFill>
                  <a:schemeClr val="dk1"/>
                </a:solidFill>
              </a:rPr>
              <a:t> (ACE1)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